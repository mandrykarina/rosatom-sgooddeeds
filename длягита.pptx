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  <p:sldMasterId id="2147483792" r:id="rId12"/>
  </p:sldMasterIdLst>
  <p:notesMasterIdLst>
    <p:notesMasterId r:id="rId26"/>
  </p:notesMasterIdLst>
  <p:sldIdLst>
    <p:sldId id="257" r:id="rId13"/>
    <p:sldId id="272" r:id="rId14"/>
    <p:sldId id="297" r:id="rId15"/>
    <p:sldId id="258" r:id="rId16"/>
    <p:sldId id="307" r:id="rId17"/>
    <p:sldId id="298" r:id="rId18"/>
    <p:sldId id="301" r:id="rId19"/>
    <p:sldId id="302" r:id="rId20"/>
    <p:sldId id="303" r:id="rId21"/>
    <p:sldId id="304" r:id="rId22"/>
    <p:sldId id="305" r:id="rId23"/>
    <p:sldId id="261" r:id="rId24"/>
    <p:sldId id="306" r:id="rId2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5469"/>
    <a:srgbClr val="004D86"/>
    <a:srgbClr val="0070C0"/>
    <a:srgbClr val="008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224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853B57B-CDF3-4B26-8819-391993BF8E6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B2F47826-0640-4C84-A2B9-E2CFE93DE947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F47826-0640-4C84-A2B9-E2CFE93DE9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09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79367-281C-4368-84B8-4712B45894B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113F8-1C62-4B20-8126-8355FAF192C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CCFEC-957D-49AC-BEDF-7965EFF1FD8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B7B8F-F90D-4E32-BEB9-0DF049D7D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D9244-3340-4FF4-9288-1BEDBE624BF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FB1D4-2EC5-495D-BF97-47352D118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95137-DBCD-45FE-966D-C0577AFDD96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B9DE8-BCD4-44C8-A24E-0E1919806D0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91A82-9A1C-49AC-97E7-3D524522345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82D-71BA-440F-AD6E-92707CC78B8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933E0-78AF-4717-9C6D-7F9BD17A1CF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AB10F-BD2B-4716-8B6E-F5F70566D8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6119E-000C-4378-8B0A-29DB1554559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0D675-9AE9-402C-ABFE-D62E8BAFFBD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8F3EB-1828-4914-82E4-385824D894B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97FF0C-94C2-40D4-8222-4DC80CE1605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6377-B81C-4689-BA4C-48A699AC8051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8EF2C-2B1A-4BA9-A56A-5BE194C026E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8D9E8-2066-4162-971A-7EF8AFD0082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42131-024F-40CB-AC51-9A07CDB565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0A170-938A-49EE-8DA5-55224CF9349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9B57D-183F-45D8-A0BC-B341B1E3AAF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EEC0E-C0D4-429C-B79A-104640C061F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AD47F-23CD-4E31-9800-9EC70BB71B8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53471-C65D-4E50-92F5-E780EBCBE10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4A52F-BB57-49ED-9E92-D5F13E2F3F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F82D3-AC6A-4712-99A1-924694E5A36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3D9C8-EB91-472B-BF52-4880709195A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EED14-FF91-40A9-AF1E-13964EE805C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C72B2-FC25-446B-94C7-0319DD990A8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BB921-D42E-4B08-9E26-F998768A107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1EF7D-3DEC-45E1-A188-631F11997A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A5D77-5DF9-4276-BC9D-CD634E0EA15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106B4-1664-40A3-A1D3-2E2AEE1E15C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CE3E6-94D4-4A18-85B3-044E01C0318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7800B-7FBE-4B46-A646-F6802720C58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F3BB2-7CAC-4C65-87D9-3ADDE681EFC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4827E-376C-474D-8D3A-921BC8C1AF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FD495-E9B0-4BB2-91AB-588B520FAEF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C0070-281F-498D-8CAD-9EF832504E5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20499-9744-4048-B5B1-D5DE03366C9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E2EBE-3710-42BB-AF72-7924A290B88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E1EDF-EC08-434D-97FC-165A71E2670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FF972-E7BC-4160-ADCD-AE68C25B94B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EF682-9378-498B-874B-D5EF18397C0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14697-817B-497B-9F43-073A117A96C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1B9C9-1406-428D-A5A5-F8D1BB6A513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01EDA-4DCF-4580-BD25-092C56D991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B8576-4FA2-47B3-BDA0-0EDAA2998A7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0247D-A130-4C5A-BFE2-A9E57E35848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26F5C-3BED-410A-8943-14283F55D95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0B9D2-C5DD-4CCB-B435-40D57BAEAF7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4FA09-0E02-4DC8-9494-033BEFAF7EE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0C794-3ED6-48C5-9509-CEF1E76CF7D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DE43A-A6EA-4703-A61A-530488CF9A0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FB74F-A850-4FAA-801E-30740311C08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E4F24-8A45-4B22-8F5D-5BBE0AD5F4C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59FE9-DDEA-434F-900E-8B4B81554D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E8BF1-4426-4C2C-9C14-4594858E4B51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EC6C2-7577-4443-A82A-2E024B4E9C7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DC337-0BCE-4B7D-9E43-4537CBA7C9B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200D4-9576-49B1-983D-D705AF004B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1D823-0D15-4F10-997F-CC8C2B828FC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E2E2F-EDA1-4F77-BAC5-CD91C2B2474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7E9F8-9032-4E64-96D5-83C6851D3AD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64F32-0E89-4764-9A47-AFCD759CDC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E2628-858E-45FD-BA3D-E436421B2AD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9C963-7E78-4547-974D-AEB9343B4F2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84B86-7336-42EF-B528-C102D362049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C0914E-9E1F-4441-AB1E-1ABA240ADAD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BD7DF-27E8-433B-AC7F-C88B207285B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89337-D0EA-4DF8-A51D-48D2077DCCD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5AAC6-DA50-4380-AC74-503D48FFDEB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1DD70-45EB-4BE2-92CC-638C80C48D1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D6CAF-7153-4AF5-89D7-69941BA917F1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3C22C-35AE-495F-9A83-91461C77027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17CD6-DC4E-4A72-98DC-5357B5C8A88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51920-8C2F-4B29-AC29-1B9406E22B6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D8B6A-4772-49DD-BB66-CB3CFE2C786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D3F2-EE85-4F30-A1EC-D0FF6A701F5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41A06-A80C-4F19-99E0-FAAFFC0BD37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7B4AB-9BD1-4EFC-B28B-826C0034D0C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C9378-6324-40C7-8E61-4291211146B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4EB77-5DAA-4045-AE46-5E57F36ED04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09C22-CB68-47BE-A1B0-6D03FB1D903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DB1FB-262C-4339-A7E1-5AD439A6ED5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EC58F-375A-47EB-9BE5-8E1F413AC7B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CC52D-68D2-4CC2-BEE5-17E71D46C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E5EEF-4115-47AA-9671-AEFD1DFA696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0A22-ED87-48A5-89CC-DB5FB3212E6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A46FD-52C6-4392-9BA2-E38450185191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8BB95-72C8-411B-B3AC-59CF70B390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F95B1-289A-40C8-93CB-B26B6EA18BF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3DFB6-8059-48C5-BC4A-D9A1C63127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D62C1-55BD-44D8-950F-0207EFB670E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9AEA2-83B7-4BE9-8A4D-AF423C7CC98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332E4-87DE-4217-B395-FD1BEB1CD4B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20909-731F-4256-BDBF-DA980FB3D1C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3CD5C-A7C7-4306-B434-42488EF4EBD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B2382-E00C-4CA6-A95A-B9763F2BD10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45B40-DA35-43EF-ABE4-E984C14B260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041DD-A24E-4F98-837A-0E0DC77102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221A6-3732-4841-967A-0D03A77F59F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57E23-10FE-46E3-BA70-A82B54CD49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83AD7-28A2-45DE-A6EA-E4B8EC9973F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C2E50-DE3B-4F8B-9E0A-4A53081CCB3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B3EEA-2708-4A5F-AE0D-A64CD34A97C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47AD2-7E07-44C9-A436-EAF3DFA74E9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60306-6D76-4B8D-90EB-5606005C21D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EA151-9FD9-4DE9-918F-F0BFD9A57EC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26189-DA4D-4D3E-92C8-AF227DC85AC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41960-4603-43EF-9193-D262263E3DB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F7E08-1411-41D5-AF00-87B333B1A23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09184-E568-48E1-93E3-92735CEA87D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C7FF5-0671-41BB-9A75-DD7620FBED1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BD8FE-2324-495C-8172-7E574D640F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FD20D-C82E-45F1-9A93-696D702174C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9C551-7BEA-4ABC-B86B-B8345075B25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CAE6-990C-44DE-8A89-DCD91AE22CD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FE46F-78A1-4691-8256-C55E9A3186C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132FC-9542-4AD2-A7FA-7C2DE0C79CF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B14D2-2DE4-4A6B-A671-7C192C3748A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9D9E2-5B66-4E2B-BC90-01BE02E1467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E05F3-FAFF-4DB0-B86A-8818C7CD0D5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44A23-2BBB-48B0-9268-BB0F777754C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6EF7F-6923-47DC-A41F-AC17D62DA7A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85609-B8EA-4CF9-95BB-AD5EDD77E21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535FE-05EC-4E89-A601-448550A29AE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549299-7E4D-45E6-9148-8D3D1BD1A49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567D7-AF43-4366-B660-B095F410906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13DA2-D7C9-40AD-94D2-DF01F09AEAE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FC7AD-835E-4E5E-943D-30A2F7F3DE5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FE376-DF42-446C-9115-9CA55E4FBCB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783FD-F2AD-4579-A15E-D37D1AF0658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80ED5-AD5F-4C38-BD77-D0A4DA49722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B207E-6C91-4B0F-99BE-8445262D12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C3B7-0F2F-4D2D-AE99-A23755894E4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E3864-BF85-4913-A9E7-E1EEE8C886A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85E3C-A17B-4BB4-9FA7-B6790BD644B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5679A-3965-4E64-AB25-59A46441A81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F5969-3801-43A2-9B97-C44811CD5B9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C36E6-3732-494F-A0DC-8E2E616089E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A3920-E329-4EA4-BC17-8DBAC3E17AF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CE37F-CEF4-435F-BE8B-7047AE7589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655B5-D768-43B2-8879-38CE52E309B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B18F9-4CB6-4845-8318-CF90119EA77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8C602-0BC4-4142-8B5E-6EE011EF3BC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2ECD4-AB31-4E97-8BB2-B84A48D797E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FF0F7-13A2-4B01-8A20-88B95E809EA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E5486-62CD-4261-A30D-69115C8C6AD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E1141-CC07-4A72-AF30-A7471823984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DB0F1-EA9A-45A9-9E22-37582EA368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A3DDA-2887-4B17-B881-D42F4915C49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073D1-F966-4D9D-88A3-DA9B4B5469D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BBD34-0858-486C-9A5E-5DE8EB80B15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F1FCE-26A5-470D-BD80-87C95932810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102A2-598C-4573-822D-2379DB5C3E2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76768-31B4-4DD5-8C4A-BAC88753A5A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426BF-67A3-446A-9030-65C89AEA2FA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C2F0A-FF62-4C9E-B2DA-0A4A886D0A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FB7B6-FC71-4850-8AF3-F96CCDFAB97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1BA65-6A8E-4AE4-8F56-0095311B1BC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6B6D3-2AFC-450E-BB88-A37EEA04C34F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F02C9-D7D4-4BCF-A1BB-AB45C0F4E6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10881-5DDF-4E8A-8BD6-A5CE3AC13CA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7EB74-F9C6-44DE-BB02-17573DD0079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BFDAC-873C-45F2-A5B4-DD5BA0B5192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5B766-866A-470A-AF03-6BE78B3D8CE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EF2E2-0057-44FB-BBA9-6B9C38CE5AA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93F51-FF61-44B8-9562-D4834E63220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8ABE5-468A-4244-9716-918A9D070E4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57F1F-106E-47AC-9781-4E295538F5C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66DF8-1D46-42A6-BB98-7F441207B82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91200-AA77-455D-9068-9D6EA247F2F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731A7-A581-4D66-B938-0F327CED2E9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77607-027D-4AB3-AD29-25EC1FEE16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DD4B5-BA6A-4A0C-8742-4D337E03EFD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0D396-BB81-4B80-BFC0-5C186DBC42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5AE1D-6FBE-4AF7-B355-FD2D288FB5F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3F29E-1AB6-4601-A09D-F2142706E6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D20DA-3C1D-4B88-839F-9688336D409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14AEF-EDA9-486F-83D9-588BBF147F5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3F037-DB3A-4F8E-B655-7A9E319B4E8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85AA0-7E32-4992-BD3B-BF155DA22EE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D9A28-BBF4-48FF-98F3-93FBE56C64B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B5BB3-466C-4BE2-AB7C-1BC9D8BC879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5C229-10A0-4719-934D-D758326722E1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DF5B6-450E-47D2-A5E4-B53C0E1E20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D5E-64BB-4A41-8599-032C9AE4F29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8104B-1A75-467F-9863-04B62103337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95487-8C9F-459D-B024-D11551DAD876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D6FEC-5A31-461C-A0F1-9E2040140D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B34EA-11CF-47E9-A162-4A0D4026716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AD258-C93C-4517-985C-613E499BF5D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0A0A3-5978-4728-B1C2-E49897F505A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A84B4-362C-464C-8DBF-EBEE1B9E0D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B539-1B44-4AA3-9E91-B6380AB3254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C30F7-0F95-4C15-A302-7C408656659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D517D-CCD4-4150-8C94-3A80E277DB60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2C207-17CC-4D32-806C-A21FAEEE8CD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2B958-36E9-42C1-BABF-3783B469DEDF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DEF78-7C04-495D-8F97-78302837D5A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6F6EA-290C-4E9C-81EF-B21CE75E666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64AE9-535A-4387-A1FA-CB12C81B0A3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67BBF-A371-4483-905C-B96C097B6E4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4AD8E-0F66-48E7-951C-80F872D793F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E42972-022A-44CE-8E14-66847876C81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025B7-3368-47E5-A697-E5FB68CC99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C3BBA-F61C-460E-85C8-155B378988D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05465-66B8-4D31-BC78-D264585F038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B1A27-6E3C-49C9-AFDE-9D8DF58187D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41754-F30D-44B7-ABA2-1D7DE07AD8B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8A5C3-ED9F-4EFC-99B5-7C085B9240E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65946-6667-4794-9BFB-71D96B65AD8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5DFC4-7229-4A8B-8246-DCC2BA674DB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20AA6C-D0E2-4761-8DB8-49566ED7649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3D3EC-A516-48CC-BC38-2870732E655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4B9F7-EA91-43C5-8A3A-C1DBB612C3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8F991-E886-4F42-9F57-BF421ED2A7D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54155-BE56-4231-8768-0A936000619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5CC4C-2853-4209-A8B4-CF3153810B5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D93D1-B71A-4E64-BDA2-98F71ABF6C3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0DF94-A838-426B-B66B-6A56448456B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0BA8F-C9A1-4BB8-A487-1F4118A84A1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C7EC0-A215-4F18-9858-CE2F87E3CB2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66565-EC7B-4D74-9E36-A7CC1A7BFB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C2BA7-1C7C-4F12-9EF0-E8952806A71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4E4D1-C169-4308-A8BD-D6ADBA25FC8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68CC7-B07A-4544-96B9-C9200398A54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B804D-9C88-4405-B289-99CBF2EAD9C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92F48-D194-479A-9273-F171C78AB2F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814AD-FD81-44FF-B7F1-AC2F7751BF7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36EC0-CDDD-4219-BDEF-8E165CB6ABE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9F4B2-6059-4518-A540-DD2EAF9EE6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5F868-43A9-44FF-B0D1-51BDA3DEBB5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8963F-FB6A-426B-80FE-36C5A70A2E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60149-2AEE-43C0-AA7F-9F7748A077A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1642D-8D73-4E2F-9615-ED9A4C64AF2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74CC0-F78B-422A-9811-8480DCA9BC3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E4B41-B7FD-4AFA-B4A8-79E232F8FFF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DD537-CBC4-43BE-A7AA-AB2FF6D0A56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ED74C-59A5-4150-ADE2-3CA854F3EF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9D600-8889-4355-ADE9-CC7164F59B8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515C2-D98A-4C55-B7A2-B031162884A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B9937-1C20-4DF4-BDB0-7A8A84D578EF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9D80A-0E95-4E70-8D7B-5DA2A5CBE53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15BD9-C4AB-4A77-8C76-87031CD1291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0AEF2-467D-4352-B176-404D1FDEA9D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528ED-B92B-4FA3-9F5B-AED2D055F70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B298C-B09B-4105-96F1-E1654350D8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FCD4B-C917-4CF7-8263-BF1C280AF03A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EC2EB-51C0-4A45-A14C-FA640E56EFF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46982-FE6C-42F1-A8E1-0C79F51695E5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03F17-2A20-45AB-B14F-0EBDBE75025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F5C78-0507-4808-8C90-ED8D79706FBE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496D5-2CB5-4DF6-B6FF-74074D3946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9489B-16EC-4BE9-91F0-2CA93E0B6FE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049BE-2ED0-4D03-8BF9-C71F9F4B1D9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CA7EF-D1A7-41D4-A058-6CF00FCBF32F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8DA52-3BC4-496D-97D9-3014272343A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E75D11-7B1D-4171-A61F-B9BFB5E16BC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004BD-9423-4B01-8179-669FCF9514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99AC7-2E57-4026-9BDF-43A3C4F099A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AF6E4-E518-4237-9C30-4E8EBAEE22D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0C90532-DD55-4876-9568-E72EFB8A4137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6F67D0E-F126-425B-BDCE-590FE1CB9EA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307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4CD6E68-C65B-4331-809E-2F74EDD3699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307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B8B4DCA-2432-479C-B10B-5687F6A26AE5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10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E6F68D4-4441-4740-BF26-6E9819FD5B54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410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9B1B1DE-A3BB-4725-9BF1-FEED917F01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14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ACE18D2-4C93-4683-B7FB-DDD1EB4D2CB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614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0E89F1A-5263-4983-8393-B158EB55C7D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614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3432AB9-9BAF-4E04-B16F-73856B9E640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717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F39F7D1-5C1A-43A0-B101-F5BC45C5774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8196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A675ED2-4E4F-4F58-AF7B-12CB5ADA6B1D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8197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91CD81D-BBB4-4B69-BAF6-8FC2AE53916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819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9220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5FF055F-B589-4292-AA66-A3B6832392D3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9221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CB549C9-0DB7-4203-A9AB-C661682FD7F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921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44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B0DAE20-ACA3-4892-B7D5-C655E80E6672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0245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0B690FE-6547-43CF-917E-508E00D3B55C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4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126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5C30CB-C899-4EEB-904A-42A9D80FD408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126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8EF0FED-2FD9-4B4D-AE6C-A0D11206A19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126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229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C155386-8AA4-4584-B450-DBE95BA9C259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229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5EC9516-8688-492A-A4C2-38FF74C3023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229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331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455DF74-A10F-4371-B6B4-18253CE4DC4B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331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E8E2FA0-A846-4DA5-9571-88EE780DBCD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331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434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7CFCED9-1243-40E7-9004-7DC1841E16AC}" type="datetimeFigureOut">
              <a:rPr lang="zh-CN" altLang="en-US"/>
              <a:t>2025/11/16</a:t>
            </a:fld>
            <a:endParaRPr lang="zh-CN" altLang="en-US"/>
          </a:p>
        </p:txBody>
      </p:sp>
      <p:sp>
        <p:nvSpPr>
          <p:cNvPr id="1434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37C76D0-AA4E-4063-A950-CACAD006AD8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等腰三角形 4"/>
          <p:cNvSpPr/>
          <p:nvPr/>
        </p:nvSpPr>
        <p:spPr bwMode="auto">
          <a:xfrm>
            <a:off x="3411538" y="0"/>
            <a:ext cx="3540125" cy="6858000"/>
          </a:xfrm>
          <a:custGeom>
            <a:avLst/>
            <a:gdLst>
              <a:gd name="T0" fmla="*/ 818343 w 3540538"/>
              <a:gd name="T1" fmla="*/ 6858000 h 6858000"/>
              <a:gd name="T2" fmla="*/ 3537234 w 3540538"/>
              <a:gd name="T3" fmla="*/ 0 h 6858000"/>
              <a:gd name="T4" fmla="*/ 1688391 w 3540538"/>
              <a:gd name="T5" fmla="*/ 6858000 h 6858000"/>
              <a:gd name="T6" fmla="*/ 818343 w 3540538"/>
              <a:gd name="T7" fmla="*/ 6858000 h 6858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540538" h="6858000">
                <a:moveTo>
                  <a:pt x="819108" y="6858000"/>
                </a:moveTo>
                <a:cubicBezTo>
                  <a:pt x="-910511" y="4789714"/>
                  <a:pt x="146615" y="2503714"/>
                  <a:pt x="3540538" y="0"/>
                </a:cubicBezTo>
                <a:cubicBezTo>
                  <a:pt x="-859709" y="3490687"/>
                  <a:pt x="386102" y="5515430"/>
                  <a:pt x="1689967" y="6858000"/>
                </a:cubicBezTo>
                <a:lnTo>
                  <a:pt x="819108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8676" name="文本框 6"/>
          <p:cNvSpPr txBox="1">
            <a:spLocks noChangeArrowheads="1"/>
          </p:cNvSpPr>
          <p:nvPr/>
        </p:nvSpPr>
        <p:spPr bwMode="auto">
          <a:xfrm>
            <a:off x="5314983" y="1854032"/>
            <a:ext cx="761746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Font typeface="Arial" panose="020B0604020202020204" pitchFamily="34" charset="0"/>
              <a:buNone/>
            </a:pPr>
            <a:r>
              <a:rPr lang="ru-RU" altLang="zh-CN" sz="80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Добрые дела Росатом</a:t>
            </a:r>
            <a:endParaRPr lang="zh-CN" sz="80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28678" name="文本框 8"/>
          <p:cNvSpPr txBox="1">
            <a:spLocks noChangeArrowheads="1"/>
          </p:cNvSpPr>
          <p:nvPr/>
        </p:nvSpPr>
        <p:spPr bwMode="auto">
          <a:xfrm>
            <a:off x="-433069" y="6262609"/>
            <a:ext cx="126250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ru-RU" altLang="zh-CN" sz="14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Выполнили студенты НИЯУ МИФИ: Мандрыка Арина Юрьевна, 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ru-RU" altLang="zh-CN" sz="14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Казанов Амир </a:t>
            </a:r>
            <a:r>
              <a:rPr lang="ru-RU" altLang="zh-CN" sz="1400" b="1" dirty="0" err="1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Ринатович</a:t>
            </a:r>
            <a:r>
              <a:rPr lang="ru-RU" altLang="zh-CN" sz="14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, Черепков Павел Александрович, Коротаев Андрей Дмитриевич</a:t>
            </a:r>
            <a:endParaRPr lang="zh-CN" altLang="en-US" sz="14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平行四边形 3"/>
          <p:cNvSpPr>
            <a:spLocks noChangeArrowheads="1"/>
          </p:cNvSpPr>
          <p:nvPr/>
        </p:nvSpPr>
        <p:spPr bwMode="auto">
          <a:xfrm>
            <a:off x="301625" y="379581"/>
            <a:ext cx="11588750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9941" name="矩形 6"/>
          <p:cNvSpPr>
            <a:spLocks noChangeArrowheads="1"/>
          </p:cNvSpPr>
          <p:nvPr/>
        </p:nvSpPr>
        <p:spPr bwMode="auto">
          <a:xfrm>
            <a:off x="817880" y="424180"/>
            <a:ext cx="5573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Используемые технологии</a:t>
            </a:r>
            <a:r>
              <a:rPr lang="en-US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:</a:t>
            </a: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Frontend</a:t>
            </a:r>
            <a:endParaRPr lang="zh-CN" sz="2400" b="1" dirty="0">
              <a:solidFill>
                <a:schemeClr val="bg1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+mn-ea"/>
            </a:endParaRPr>
          </a:p>
        </p:txBody>
      </p:sp>
      <p:sp>
        <p:nvSpPr>
          <p:cNvPr id="39942" name="Rounded Rectangle 5"/>
          <p:cNvSpPr>
            <a:spLocks noChangeArrowheads="1"/>
          </p:cNvSpPr>
          <p:nvPr/>
        </p:nvSpPr>
        <p:spPr bwMode="auto">
          <a:xfrm>
            <a:off x="931864" y="2506372"/>
            <a:ext cx="1106488" cy="110648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3" name="Rounded Rectangle 11"/>
          <p:cNvSpPr>
            <a:spLocks noChangeArrowheads="1"/>
          </p:cNvSpPr>
          <p:nvPr/>
        </p:nvSpPr>
        <p:spPr bwMode="auto">
          <a:xfrm>
            <a:off x="4611688" y="2517775"/>
            <a:ext cx="1104900" cy="1106488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4" name="Rounded Rectangle 13"/>
          <p:cNvSpPr>
            <a:spLocks noChangeArrowheads="1"/>
          </p:cNvSpPr>
          <p:nvPr/>
        </p:nvSpPr>
        <p:spPr bwMode="auto">
          <a:xfrm>
            <a:off x="8278834" y="2546952"/>
            <a:ext cx="1106487" cy="110648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5" name="Rounded Rectangle 15"/>
          <p:cNvSpPr>
            <a:spLocks noChangeArrowheads="1"/>
          </p:cNvSpPr>
          <p:nvPr/>
        </p:nvSpPr>
        <p:spPr bwMode="auto">
          <a:xfrm>
            <a:off x="2995296" y="4435226"/>
            <a:ext cx="1106488" cy="1106487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6" name="Rounded Rectangle 17"/>
          <p:cNvSpPr>
            <a:spLocks noChangeArrowheads="1"/>
          </p:cNvSpPr>
          <p:nvPr/>
        </p:nvSpPr>
        <p:spPr bwMode="auto">
          <a:xfrm>
            <a:off x="7094242" y="4422955"/>
            <a:ext cx="1104900" cy="11064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" name="TextBox 73"/>
          <p:cNvSpPr txBox="1"/>
          <p:nvPr/>
        </p:nvSpPr>
        <p:spPr>
          <a:xfrm>
            <a:off x="2145349" y="2966747"/>
            <a:ext cx="2236154" cy="963982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Навигация между страницами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Защита авторизированных страниц</a:t>
            </a:r>
          </a:p>
        </p:txBody>
      </p:sp>
      <p:sp>
        <p:nvSpPr>
          <p:cNvPr id="4" name="文本框 21"/>
          <p:cNvSpPr txBox="1"/>
          <p:nvPr/>
        </p:nvSpPr>
        <p:spPr>
          <a:xfrm>
            <a:off x="4154806" y="4521903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 err="1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Axios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53" name="文本框 21"/>
          <p:cNvSpPr txBox="1"/>
          <p:nvPr/>
        </p:nvSpPr>
        <p:spPr>
          <a:xfrm>
            <a:off x="2145349" y="2608607"/>
            <a:ext cx="2386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React Router 6+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6" name="文本框 21"/>
          <p:cNvSpPr txBox="1"/>
          <p:nvPr/>
        </p:nvSpPr>
        <p:spPr>
          <a:xfrm>
            <a:off x="8278834" y="4509632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CSS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8" name="文本框 21"/>
          <p:cNvSpPr txBox="1"/>
          <p:nvPr/>
        </p:nvSpPr>
        <p:spPr>
          <a:xfrm>
            <a:off x="5796280" y="2620010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React 18+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9512956" y="2566637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Vite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3" name="TextBox 73">
            <a:extLst>
              <a:ext uri="{FF2B5EF4-FFF2-40B4-BE49-F238E27FC236}">
                <a16:creationId xmlns:a16="http://schemas.microsoft.com/office/drawing/2014/main" id="{05E9DCAC-A804-4BF3-A4D1-4B847D514869}"/>
              </a:ext>
            </a:extLst>
          </p:cNvPr>
          <p:cNvSpPr txBox="1"/>
          <p:nvPr/>
        </p:nvSpPr>
        <p:spPr>
          <a:xfrm>
            <a:off x="5781874" y="2996664"/>
            <a:ext cx="2466339" cy="742383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Поддержка асинхронности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Компонентная архитектура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Высокая производительность</a:t>
            </a:r>
            <a:endParaRPr lang="zh-CN" altLang="en-US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4" name="TextBox 73">
            <a:extLst>
              <a:ext uri="{FF2B5EF4-FFF2-40B4-BE49-F238E27FC236}">
                <a16:creationId xmlns:a16="http://schemas.microsoft.com/office/drawing/2014/main" id="{3EE5C339-F423-47C1-9E5F-8F55E4B7638A}"/>
              </a:ext>
            </a:extLst>
          </p:cNvPr>
          <p:cNvSpPr txBox="1"/>
          <p:nvPr/>
        </p:nvSpPr>
        <p:spPr>
          <a:xfrm>
            <a:off x="9487071" y="3008950"/>
            <a:ext cx="2533241" cy="963982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Быстрая разработка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Оптимизированный </a:t>
            </a:r>
            <a:r>
              <a:rPr lang="ru-RU" altLang="zh-CN" sz="1200" dirty="0" err="1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бункль</a:t>
            </a:r>
            <a:endParaRPr lang="ru-RU" altLang="zh-CN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Встроенная поддержка </a:t>
            </a:r>
            <a:r>
              <a:rPr lang="en-US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TypeScript, JSX</a:t>
            </a:r>
            <a:endParaRPr lang="zh-CN" altLang="en-US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5" name="TextBox 73">
            <a:extLst>
              <a:ext uri="{FF2B5EF4-FFF2-40B4-BE49-F238E27FC236}">
                <a16:creationId xmlns:a16="http://schemas.microsoft.com/office/drawing/2014/main" id="{0D727005-C7C9-4448-8429-1038EDCA018F}"/>
              </a:ext>
            </a:extLst>
          </p:cNvPr>
          <p:cNvSpPr txBox="1"/>
          <p:nvPr/>
        </p:nvSpPr>
        <p:spPr>
          <a:xfrm>
            <a:off x="4144210" y="4922013"/>
            <a:ext cx="2397243" cy="963982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Удобный способ обращаться </a:t>
            </a:r>
          </a:p>
          <a:p>
            <a:pPr>
              <a:lnSpc>
                <a:spcPct val="120000"/>
              </a:lnSpc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     к API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Обработка ошибок и токенов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Асинхронные запросы</a:t>
            </a:r>
          </a:p>
        </p:txBody>
      </p:sp>
      <p:sp>
        <p:nvSpPr>
          <p:cNvPr id="36" name="TextBox 73">
            <a:extLst>
              <a:ext uri="{FF2B5EF4-FFF2-40B4-BE49-F238E27FC236}">
                <a16:creationId xmlns:a16="http://schemas.microsoft.com/office/drawing/2014/main" id="{41839556-2E53-43F5-87F1-2C170902684A}"/>
              </a:ext>
            </a:extLst>
          </p:cNvPr>
          <p:cNvSpPr txBox="1"/>
          <p:nvPr/>
        </p:nvSpPr>
        <p:spPr>
          <a:xfrm>
            <a:off x="8327411" y="4909742"/>
            <a:ext cx="2466339" cy="742383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Бело-синяя цветовая схема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Адаптивный дизайн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Минималистичный</a:t>
            </a:r>
            <a:endParaRPr lang="zh-CN" altLang="en-US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D7B1C99-9806-428D-892E-FC2BB8D9C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5" t="24331" r="11814" b="19434"/>
          <a:stretch/>
        </p:blipFill>
        <p:spPr bwMode="auto">
          <a:xfrm>
            <a:off x="873165" y="2787011"/>
            <a:ext cx="1165187" cy="6341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0F49DE4-B0A6-4159-ABA6-1F98CD789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124" y="2820607"/>
            <a:ext cx="1302130" cy="5508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CB5645EE-6B23-4758-844C-D55098260B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2" b="17584"/>
          <a:stretch/>
        </p:blipFill>
        <p:spPr bwMode="auto">
          <a:xfrm>
            <a:off x="8158600" y="2862474"/>
            <a:ext cx="1226721" cy="5766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D926BBCC-1649-4C50-9EE6-B6F25E09F8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9" t="23543" r="13025" b="27368"/>
          <a:stretch/>
        </p:blipFill>
        <p:spPr bwMode="auto">
          <a:xfrm>
            <a:off x="2540460" y="4720485"/>
            <a:ext cx="1539616" cy="5508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BBFE4452-7F6F-46DF-883A-5D812A034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63" y="4672631"/>
            <a:ext cx="1118078" cy="55903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平行四边形 3"/>
          <p:cNvSpPr>
            <a:spLocks noChangeArrowheads="1"/>
          </p:cNvSpPr>
          <p:nvPr/>
        </p:nvSpPr>
        <p:spPr bwMode="auto">
          <a:xfrm>
            <a:off x="301625" y="379581"/>
            <a:ext cx="11588750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9941" name="矩形 6"/>
          <p:cNvSpPr>
            <a:spLocks noChangeArrowheads="1"/>
          </p:cNvSpPr>
          <p:nvPr/>
        </p:nvSpPr>
        <p:spPr bwMode="auto">
          <a:xfrm>
            <a:off x="817880" y="424180"/>
            <a:ext cx="55735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Используемые технологии</a:t>
            </a:r>
            <a:r>
              <a:rPr lang="en-US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:</a:t>
            </a: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Backend</a:t>
            </a:r>
            <a:endParaRPr lang="zh-CN" sz="2400" b="1" dirty="0">
              <a:solidFill>
                <a:schemeClr val="bg1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+mn-ea"/>
            </a:endParaRPr>
          </a:p>
        </p:txBody>
      </p:sp>
      <p:sp>
        <p:nvSpPr>
          <p:cNvPr id="39942" name="Rounded Rectangle 5"/>
          <p:cNvSpPr>
            <a:spLocks noChangeArrowheads="1"/>
          </p:cNvSpPr>
          <p:nvPr/>
        </p:nvSpPr>
        <p:spPr bwMode="auto">
          <a:xfrm>
            <a:off x="937896" y="2498246"/>
            <a:ext cx="1106488" cy="110648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3" name="Rounded Rectangle 11"/>
          <p:cNvSpPr>
            <a:spLocks noChangeArrowheads="1"/>
          </p:cNvSpPr>
          <p:nvPr/>
        </p:nvSpPr>
        <p:spPr bwMode="auto">
          <a:xfrm>
            <a:off x="4611688" y="2517775"/>
            <a:ext cx="1104900" cy="1106488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4" name="Rounded Rectangle 13"/>
          <p:cNvSpPr>
            <a:spLocks noChangeArrowheads="1"/>
          </p:cNvSpPr>
          <p:nvPr/>
        </p:nvSpPr>
        <p:spPr bwMode="auto">
          <a:xfrm>
            <a:off x="8450522" y="2517775"/>
            <a:ext cx="1106487" cy="110648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5" name="Rounded Rectangle 15"/>
          <p:cNvSpPr>
            <a:spLocks noChangeArrowheads="1"/>
          </p:cNvSpPr>
          <p:nvPr/>
        </p:nvSpPr>
        <p:spPr bwMode="auto">
          <a:xfrm>
            <a:off x="2947988" y="4434179"/>
            <a:ext cx="1106488" cy="1106487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9946" name="Rounded Rectangle 17"/>
          <p:cNvSpPr>
            <a:spLocks noChangeArrowheads="1"/>
          </p:cNvSpPr>
          <p:nvPr/>
        </p:nvSpPr>
        <p:spPr bwMode="auto">
          <a:xfrm>
            <a:off x="7032626" y="4433656"/>
            <a:ext cx="1104900" cy="110648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endParaRPr lang="en-US" altLang="zh-CN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Arial" panose="020B0604020202020204" pitchFamily="34" charset="0"/>
            </a:endParaRPr>
          </a:p>
        </p:txBody>
      </p:sp>
      <p:sp>
        <p:nvSpPr>
          <p:cNvPr id="3" name="TextBox 73"/>
          <p:cNvSpPr txBox="1"/>
          <p:nvPr/>
        </p:nvSpPr>
        <p:spPr>
          <a:xfrm>
            <a:off x="2097406" y="2958621"/>
            <a:ext cx="2236154" cy="1185581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Высокопроизводительный веб-фреймворк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Встроенная валидация данных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Асинхронная поддержка</a:t>
            </a:r>
          </a:p>
        </p:txBody>
      </p:sp>
      <p:sp>
        <p:nvSpPr>
          <p:cNvPr id="4" name="文本框 21"/>
          <p:cNvSpPr txBox="1"/>
          <p:nvPr/>
        </p:nvSpPr>
        <p:spPr>
          <a:xfrm>
            <a:off x="4107498" y="4520856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bcrypt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53" name="文本框 21"/>
          <p:cNvSpPr txBox="1"/>
          <p:nvPr/>
        </p:nvSpPr>
        <p:spPr>
          <a:xfrm>
            <a:off x="2097406" y="2600481"/>
            <a:ext cx="2386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FastAPI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6" name="文本框 21"/>
          <p:cNvSpPr txBox="1"/>
          <p:nvPr/>
        </p:nvSpPr>
        <p:spPr>
          <a:xfrm>
            <a:off x="8217218" y="4520333"/>
            <a:ext cx="134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JWT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8" name="文本框 21"/>
          <p:cNvSpPr txBox="1"/>
          <p:nvPr/>
        </p:nvSpPr>
        <p:spPr>
          <a:xfrm>
            <a:off x="5796280" y="2620010"/>
            <a:ext cx="2178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SQLAlchemy</a:t>
            </a:r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 2.0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12" name="文本框 21"/>
          <p:cNvSpPr txBox="1"/>
          <p:nvPr/>
        </p:nvSpPr>
        <p:spPr>
          <a:xfrm>
            <a:off x="9684644" y="2537460"/>
            <a:ext cx="1611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4D86"/>
                </a:solidFill>
                <a:latin typeface="Montserrat SemiBold" panose="00000700000000000000" charset="0"/>
                <a:cs typeface="Montserrat SemiBold" panose="00000700000000000000" charset="0"/>
                <a:sym typeface="+mn-lt"/>
              </a:rPr>
              <a:t>PostgreSQL</a:t>
            </a:r>
            <a:endParaRPr lang="en-US" sz="2000" b="1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3" name="TextBox 73">
            <a:extLst>
              <a:ext uri="{FF2B5EF4-FFF2-40B4-BE49-F238E27FC236}">
                <a16:creationId xmlns:a16="http://schemas.microsoft.com/office/drawing/2014/main" id="{05E9DCAC-A804-4BF3-A4D1-4B847D514869}"/>
              </a:ext>
            </a:extLst>
          </p:cNvPr>
          <p:cNvSpPr txBox="1"/>
          <p:nvPr/>
        </p:nvSpPr>
        <p:spPr>
          <a:xfrm>
            <a:off x="5781874" y="2996664"/>
            <a:ext cx="2466339" cy="963982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ORM </a:t>
            </a: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для </a:t>
            </a:r>
            <a:r>
              <a:rPr lang="en-US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Python</a:t>
            </a:r>
            <a:endParaRPr lang="ru-RU" altLang="zh-CN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Отслеживание изменений схемы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Кросс-</a:t>
            </a:r>
            <a:r>
              <a:rPr lang="ru-RU" altLang="zh-CN" sz="1200" dirty="0" err="1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платформенность</a:t>
            </a:r>
            <a:endParaRPr lang="zh-CN" altLang="en-US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4" name="TextBox 73">
            <a:extLst>
              <a:ext uri="{FF2B5EF4-FFF2-40B4-BE49-F238E27FC236}">
                <a16:creationId xmlns:a16="http://schemas.microsoft.com/office/drawing/2014/main" id="{3EE5C339-F423-47C1-9E5F-8F55E4B7638A}"/>
              </a:ext>
            </a:extLst>
          </p:cNvPr>
          <p:cNvSpPr txBox="1"/>
          <p:nvPr/>
        </p:nvSpPr>
        <p:spPr>
          <a:xfrm>
            <a:off x="9658759" y="2979773"/>
            <a:ext cx="2533241" cy="742383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Надёжная реляционная БД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Поддержка </a:t>
            </a:r>
            <a:r>
              <a:rPr lang="en-US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ENUM </a:t>
            </a: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типов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Быстрые запросы, безопасность</a:t>
            </a:r>
            <a:endParaRPr lang="zh-CN" altLang="en-US" sz="1200" dirty="0">
              <a:solidFill>
                <a:srgbClr val="004D86"/>
              </a:solidFill>
              <a:latin typeface="Montserrat SemiBold" panose="00000700000000000000" charset="0"/>
              <a:ea typeface="字魂70号-灵悦黑体" panose="00000500000000000000" pitchFamily="2" charset="-122"/>
              <a:cs typeface="Montserrat SemiBold" panose="00000700000000000000" charset="0"/>
              <a:sym typeface="+mn-lt"/>
            </a:endParaRPr>
          </a:p>
        </p:txBody>
      </p:sp>
      <p:sp>
        <p:nvSpPr>
          <p:cNvPr id="35" name="TextBox 73">
            <a:extLst>
              <a:ext uri="{FF2B5EF4-FFF2-40B4-BE49-F238E27FC236}">
                <a16:creationId xmlns:a16="http://schemas.microsoft.com/office/drawing/2014/main" id="{0D727005-C7C9-4448-8429-1038EDCA018F}"/>
              </a:ext>
            </a:extLst>
          </p:cNvPr>
          <p:cNvSpPr txBox="1"/>
          <p:nvPr/>
        </p:nvSpPr>
        <p:spPr>
          <a:xfrm>
            <a:off x="4096902" y="4920966"/>
            <a:ext cx="2397243" cy="299184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Хеширование паролей</a:t>
            </a:r>
          </a:p>
        </p:txBody>
      </p:sp>
      <p:sp>
        <p:nvSpPr>
          <p:cNvPr id="36" name="TextBox 73">
            <a:extLst>
              <a:ext uri="{FF2B5EF4-FFF2-40B4-BE49-F238E27FC236}">
                <a16:creationId xmlns:a16="http://schemas.microsoft.com/office/drawing/2014/main" id="{41839556-2E53-43F5-87F1-2C170902684A}"/>
              </a:ext>
            </a:extLst>
          </p:cNvPr>
          <p:cNvSpPr txBox="1"/>
          <p:nvPr/>
        </p:nvSpPr>
        <p:spPr>
          <a:xfrm>
            <a:off x="8265795" y="4920443"/>
            <a:ext cx="2466339" cy="299184"/>
          </a:xfrm>
          <a:prstGeom prst="roundRect">
            <a:avLst>
              <a:gd name="adj" fmla="val 0"/>
            </a:avLst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zh-CN" sz="1200" dirty="0">
                <a:solidFill>
                  <a:srgbClr val="004D86"/>
                </a:solidFill>
                <a:latin typeface="Montserrat SemiBold" panose="00000700000000000000" charset="0"/>
                <a:ea typeface="字魂70号-灵悦黑体" panose="00000500000000000000" pitchFamily="2" charset="-122"/>
                <a:cs typeface="Montserrat SemiBold" panose="00000700000000000000" charset="0"/>
                <a:sym typeface="+mn-lt"/>
              </a:rPr>
              <a:t>Безопасные токены сессии</a:t>
            </a:r>
          </a:p>
        </p:txBody>
      </p:sp>
      <p:pic>
        <p:nvPicPr>
          <p:cNvPr id="24" name="Picture 11" descr="Picture background">
            <a:extLst>
              <a:ext uri="{FF2B5EF4-FFF2-40B4-BE49-F238E27FC236}">
                <a16:creationId xmlns:a16="http://schemas.microsoft.com/office/drawing/2014/main" id="{CD32AE75-78B0-4E69-AD12-BC6CEF39B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08" b="31394"/>
          <a:stretch/>
        </p:blipFill>
        <p:spPr bwMode="auto">
          <a:xfrm>
            <a:off x="627485" y="2729929"/>
            <a:ext cx="1406104" cy="5413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E63EA47-F555-4C6A-8E5B-34675AA274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5" t="27312" r="8669" b="27762"/>
          <a:stretch/>
        </p:blipFill>
        <p:spPr bwMode="auto">
          <a:xfrm>
            <a:off x="4347966" y="2821602"/>
            <a:ext cx="1405004" cy="4001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7E2E4A1A-40B1-4213-AD86-D7B1F346A0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97" b="25408"/>
          <a:stretch/>
        </p:blipFill>
        <p:spPr bwMode="auto">
          <a:xfrm>
            <a:off x="8159987" y="2794409"/>
            <a:ext cx="1457485" cy="47684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DB85F09-7F14-4704-86DE-C2E22A29E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14" y="4670629"/>
            <a:ext cx="697613" cy="6976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5D038CAC-2C47-45EB-BAE4-1B1401757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0" t="16805" r="9004" b="22953"/>
          <a:stretch/>
        </p:blipFill>
        <p:spPr bwMode="auto">
          <a:xfrm>
            <a:off x="6554433" y="4655334"/>
            <a:ext cx="1586733" cy="5934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69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498D9A-792B-4ED3-BB9E-36AAA388D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1" y="287552"/>
            <a:ext cx="6507686" cy="6245571"/>
          </a:xfrm>
          <a:prstGeom prst="rect">
            <a:avLst/>
          </a:prstGeom>
        </p:spPr>
      </p:pic>
      <p:sp>
        <p:nvSpPr>
          <p:cNvPr id="40" name="文本框 6">
            <a:extLst>
              <a:ext uri="{FF2B5EF4-FFF2-40B4-BE49-F238E27FC236}">
                <a16:creationId xmlns:a16="http://schemas.microsoft.com/office/drawing/2014/main" id="{4CB341FB-9FEF-4CF1-B450-4B90384E1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680" y="3136611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Структура БД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平行四边形 6"/>
          <p:cNvSpPr>
            <a:spLocks noChangeArrowheads="1"/>
          </p:cNvSpPr>
          <p:nvPr/>
        </p:nvSpPr>
        <p:spPr bwMode="auto">
          <a:xfrm>
            <a:off x="301625" y="333376"/>
            <a:ext cx="11588750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1749" name="矩形 8"/>
          <p:cNvSpPr>
            <a:spLocks noChangeArrowheads="1"/>
          </p:cNvSpPr>
          <p:nvPr/>
        </p:nvSpPr>
        <p:spPr bwMode="auto">
          <a:xfrm>
            <a:off x="798901" y="377974"/>
            <a:ext cx="2528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buFont typeface="Arial" panose="020B0604020202020204" pitchFamily="34" charset="0"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Главная страница</a:t>
            </a:r>
            <a:endParaRPr lang="zh-CN" sz="2400" b="1" dirty="0">
              <a:solidFill>
                <a:schemeClr val="bg1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+mn-e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94924C-2F27-4CEF-B507-659BA6ED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25" y="2011680"/>
            <a:ext cx="5744300" cy="30471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FF9B01-81A7-4416-B6D5-2FDBCAE6C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077" y="2011680"/>
            <a:ext cx="5744299" cy="30471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27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DF7FBB5F-D5AA-4694-A438-40FC991F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680" y="3136611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Календарь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2484A3-DED2-4112-BBA8-70B147BCF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94460"/>
            <a:ext cx="7233920" cy="4069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5657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DF7FBB5F-D5AA-4694-A438-40FC991F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680" y="3136611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Список НКО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795700-69AC-4B80-B8BE-0AF75974C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49" y="1394460"/>
            <a:ext cx="7359705" cy="3990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236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DF7FBB5F-D5AA-4694-A438-40FC991F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680" y="3136611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База знаний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E8A851-EEEA-4C2B-959B-667C5771E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94460"/>
            <a:ext cx="7214308" cy="4041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560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DF7FBB5F-D5AA-4694-A438-40FC991F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680" y="3136611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Новости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AC8436-C29A-48A2-BB1B-7672FBF5C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94460"/>
            <a:ext cx="7256498" cy="4081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397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平行四边形 6"/>
          <p:cNvSpPr>
            <a:spLocks noChangeArrowheads="1"/>
          </p:cNvSpPr>
          <p:nvPr/>
        </p:nvSpPr>
        <p:spPr bwMode="auto">
          <a:xfrm>
            <a:off x="301625" y="333376"/>
            <a:ext cx="11588750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1749" name="矩形 8"/>
          <p:cNvSpPr>
            <a:spLocks noChangeArrowheads="1"/>
          </p:cNvSpPr>
          <p:nvPr/>
        </p:nvSpPr>
        <p:spPr bwMode="auto">
          <a:xfrm>
            <a:off x="798901" y="377974"/>
            <a:ext cx="27788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buFont typeface="Arial" panose="020B0604020202020204" pitchFamily="34" charset="0"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Регистрация и вход</a:t>
            </a:r>
            <a:endParaRPr lang="zh-CN" sz="2400" b="1" dirty="0">
              <a:solidFill>
                <a:schemeClr val="bg1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+mn-e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BFCB3F-E6E7-4411-A16E-4F8E823EC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1" y="1564640"/>
            <a:ext cx="5583583" cy="3210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78D76A-081D-4723-BC86-A6B89E33B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81" y="1564640"/>
            <a:ext cx="5583583" cy="3210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115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平行四边形 6"/>
          <p:cNvSpPr>
            <a:spLocks noChangeArrowheads="1"/>
          </p:cNvSpPr>
          <p:nvPr/>
        </p:nvSpPr>
        <p:spPr bwMode="auto">
          <a:xfrm>
            <a:off x="301625" y="333376"/>
            <a:ext cx="11588750" cy="550862"/>
          </a:xfrm>
          <a:prstGeom prst="parallelogram">
            <a:avLst>
              <a:gd name="adj" fmla="val 41491"/>
            </a:avLst>
          </a:pr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1749" name="矩形 8"/>
          <p:cNvSpPr>
            <a:spLocks noChangeArrowheads="1"/>
          </p:cNvSpPr>
          <p:nvPr/>
        </p:nvSpPr>
        <p:spPr bwMode="auto">
          <a:xfrm>
            <a:off x="798901" y="377974"/>
            <a:ext cx="26117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0" hangingPunct="0">
              <a:buFont typeface="Arial" panose="020B0604020202020204" pitchFamily="34" charset="0"/>
              <a:buNone/>
            </a:pPr>
            <a:r>
              <a:rPr lang="ru-RU" altLang="zh-CN" sz="2400" b="1" dirty="0">
                <a:solidFill>
                  <a:schemeClr val="bg1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  <a:sym typeface="+mn-ea"/>
              </a:rPr>
              <a:t>Личные кабинеты</a:t>
            </a:r>
            <a:endParaRPr lang="zh-CN" sz="2400" b="1" dirty="0">
              <a:solidFill>
                <a:schemeClr val="bg1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  <a:sym typeface="+mn-ea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0E776F-ED6D-4EAD-A25F-6E32FFF07D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41" y="1219200"/>
            <a:ext cx="5160839" cy="29674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DC88F8-A654-4E2B-8A4A-C8A37B5DF5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219200"/>
            <a:ext cx="5160839" cy="2967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D92A78-375B-4392-9A77-D0BF3F3B2F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600" y="3656838"/>
            <a:ext cx="4679359" cy="2683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654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等腰三角形 4"/>
          <p:cNvSpPr/>
          <p:nvPr/>
        </p:nvSpPr>
        <p:spPr bwMode="auto">
          <a:xfrm>
            <a:off x="3267075" y="4229100"/>
            <a:ext cx="3219450" cy="2628900"/>
          </a:xfrm>
          <a:custGeom>
            <a:avLst/>
            <a:gdLst>
              <a:gd name="T0" fmla="*/ 0 w 3219450"/>
              <a:gd name="T1" fmla="*/ 2628900 h 2628900"/>
              <a:gd name="T2" fmla="*/ 1381125 w 3219450"/>
              <a:gd name="T3" fmla="*/ 0 h 2628900"/>
              <a:gd name="T4" fmla="*/ 3219450 w 3219450"/>
              <a:gd name="T5" fmla="*/ 2628900 h 2628900"/>
              <a:gd name="T6" fmla="*/ 0 w 3219450"/>
              <a:gd name="T7" fmla="*/ 2628900 h 26289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219450" h="2628900">
                <a:moveTo>
                  <a:pt x="0" y="2628900"/>
                </a:moveTo>
                <a:lnTo>
                  <a:pt x="1381125" y="0"/>
                </a:lnTo>
                <a:lnTo>
                  <a:pt x="321945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59" name="平行四边形 3"/>
          <p:cNvSpPr>
            <a:spLocks noChangeArrowheads="1"/>
          </p:cNvSpPr>
          <p:nvPr/>
        </p:nvSpPr>
        <p:spPr bwMode="auto">
          <a:xfrm>
            <a:off x="-952500" y="0"/>
            <a:ext cx="7943850" cy="6858000"/>
          </a:xfrm>
          <a:prstGeom prst="parallelogram">
            <a:avLst>
              <a:gd name="adj" fmla="val 53316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grpSp>
        <p:nvGrpSpPr>
          <p:cNvPr id="45062" name="组合 43"/>
          <p:cNvGrpSpPr/>
          <p:nvPr/>
        </p:nvGrpSpPr>
        <p:grpSpPr bwMode="auto">
          <a:xfrm>
            <a:off x="6953250" y="1931988"/>
            <a:ext cx="733425" cy="523875"/>
            <a:chOff x="0" y="0"/>
            <a:chExt cx="733424" cy="523220"/>
          </a:xfrm>
        </p:grpSpPr>
        <p:grpSp>
          <p:nvGrpSpPr>
            <p:cNvPr id="45093" name="组合 44"/>
            <p:cNvGrpSpPr/>
            <p:nvPr/>
          </p:nvGrpSpPr>
          <p:grpSpPr bwMode="auto">
            <a:xfrm>
              <a:off x="0" y="30570"/>
              <a:ext cx="619124" cy="471567"/>
              <a:chOff x="0" y="0"/>
              <a:chExt cx="877513" cy="643017"/>
            </a:xfrm>
          </p:grpSpPr>
          <p:sp>
            <p:nvSpPr>
              <p:cNvPr id="45095" name="平行四边形 46"/>
              <p:cNvSpPr>
                <a:spLocks noChangeArrowheads="1"/>
              </p:cNvSpPr>
              <p:nvPr/>
            </p:nvSpPr>
            <p:spPr bwMode="auto">
              <a:xfrm>
                <a:off x="31500" y="72900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  <p:sp>
            <p:nvSpPr>
              <p:cNvPr id="45096" name="平行四边形 47"/>
              <p:cNvSpPr>
                <a:spLocks noChangeArrowheads="1"/>
              </p:cNvSpPr>
              <p:nvPr/>
            </p:nvSpPr>
            <p:spPr bwMode="auto">
              <a:xfrm>
                <a:off x="0" y="-607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</p:grpSp>
        <p:sp>
          <p:nvSpPr>
            <p:cNvPr id="45094" name="文本框 45"/>
            <p:cNvSpPr txBox="1">
              <a:spLocks noChangeArrowheads="1"/>
            </p:cNvSpPr>
            <p:nvPr/>
          </p:nvSpPr>
          <p:spPr bwMode="auto">
            <a:xfrm>
              <a:off x="102347" y="0"/>
              <a:ext cx="631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FFFFFF"/>
                  </a:solidFill>
                  <a:latin typeface="Montserrat SemiBold" panose="00000700000000000000" charset="0"/>
                  <a:ea typeface="微软雅黑" panose="020B0503020204020204" pitchFamily="34" charset="-122"/>
                  <a:cs typeface="Montserrat SemiBold" panose="00000700000000000000" charset="0"/>
                </a:rPr>
                <a:t>1</a:t>
              </a:r>
            </a:p>
          </p:txBody>
        </p:sp>
      </p:grpSp>
      <p:grpSp>
        <p:nvGrpSpPr>
          <p:cNvPr id="45063" name="组合 48"/>
          <p:cNvGrpSpPr/>
          <p:nvPr/>
        </p:nvGrpSpPr>
        <p:grpSpPr bwMode="auto">
          <a:xfrm>
            <a:off x="6953250" y="2693988"/>
            <a:ext cx="733425" cy="523875"/>
            <a:chOff x="0" y="0"/>
            <a:chExt cx="733424" cy="523220"/>
          </a:xfrm>
        </p:grpSpPr>
        <p:grpSp>
          <p:nvGrpSpPr>
            <p:cNvPr id="45089" name="组合 49"/>
            <p:cNvGrpSpPr/>
            <p:nvPr/>
          </p:nvGrpSpPr>
          <p:grpSpPr bwMode="auto">
            <a:xfrm>
              <a:off x="0" y="30570"/>
              <a:ext cx="619124" cy="471567"/>
              <a:chOff x="0" y="0"/>
              <a:chExt cx="877513" cy="643017"/>
            </a:xfrm>
          </p:grpSpPr>
          <p:sp>
            <p:nvSpPr>
              <p:cNvPr id="45091" name="平行四边形 51"/>
              <p:cNvSpPr>
                <a:spLocks noChangeArrowheads="1"/>
              </p:cNvSpPr>
              <p:nvPr/>
            </p:nvSpPr>
            <p:spPr bwMode="auto">
              <a:xfrm>
                <a:off x="31500" y="72900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  <p:sp>
            <p:nvSpPr>
              <p:cNvPr id="45092" name="平行四边形 52"/>
              <p:cNvSpPr>
                <a:spLocks noChangeArrowheads="1"/>
              </p:cNvSpPr>
              <p:nvPr/>
            </p:nvSpPr>
            <p:spPr bwMode="auto">
              <a:xfrm>
                <a:off x="0" y="-607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</p:grpSp>
        <p:sp>
          <p:nvSpPr>
            <p:cNvPr id="45090" name="文本框 50"/>
            <p:cNvSpPr txBox="1">
              <a:spLocks noChangeArrowheads="1"/>
            </p:cNvSpPr>
            <p:nvPr/>
          </p:nvSpPr>
          <p:spPr bwMode="auto">
            <a:xfrm>
              <a:off x="102347" y="0"/>
              <a:ext cx="631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FFFFFF"/>
                  </a:solidFill>
                  <a:latin typeface="Montserrat SemiBold" panose="00000700000000000000" charset="0"/>
                  <a:ea typeface="微软雅黑" panose="020B0503020204020204" pitchFamily="34" charset="-122"/>
                  <a:cs typeface="Montserrat SemiBold" panose="00000700000000000000" charset="0"/>
                </a:rPr>
                <a:t>2</a:t>
              </a:r>
            </a:p>
          </p:txBody>
        </p:sp>
      </p:grpSp>
      <p:grpSp>
        <p:nvGrpSpPr>
          <p:cNvPr id="45064" name="组合 53"/>
          <p:cNvGrpSpPr/>
          <p:nvPr/>
        </p:nvGrpSpPr>
        <p:grpSpPr bwMode="auto">
          <a:xfrm>
            <a:off x="6889115" y="3474403"/>
            <a:ext cx="733425" cy="523875"/>
            <a:chOff x="0" y="0"/>
            <a:chExt cx="733424" cy="523220"/>
          </a:xfrm>
        </p:grpSpPr>
        <p:grpSp>
          <p:nvGrpSpPr>
            <p:cNvPr id="45085" name="组合 54"/>
            <p:cNvGrpSpPr/>
            <p:nvPr/>
          </p:nvGrpSpPr>
          <p:grpSpPr bwMode="auto">
            <a:xfrm>
              <a:off x="0" y="30570"/>
              <a:ext cx="619124" cy="471567"/>
              <a:chOff x="0" y="0"/>
              <a:chExt cx="877513" cy="643017"/>
            </a:xfrm>
          </p:grpSpPr>
          <p:sp>
            <p:nvSpPr>
              <p:cNvPr id="45087" name="平行四边形 56"/>
              <p:cNvSpPr>
                <a:spLocks noChangeArrowheads="1"/>
              </p:cNvSpPr>
              <p:nvPr/>
            </p:nvSpPr>
            <p:spPr bwMode="auto">
              <a:xfrm>
                <a:off x="31500" y="72900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  <p:sp>
            <p:nvSpPr>
              <p:cNvPr id="45088" name="平行四边形 57"/>
              <p:cNvSpPr>
                <a:spLocks noChangeArrowheads="1"/>
              </p:cNvSpPr>
              <p:nvPr/>
            </p:nvSpPr>
            <p:spPr bwMode="auto">
              <a:xfrm>
                <a:off x="0" y="-607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</p:grpSp>
        <p:sp>
          <p:nvSpPr>
            <p:cNvPr id="45086" name="文本框 55"/>
            <p:cNvSpPr txBox="1">
              <a:spLocks noChangeArrowheads="1"/>
            </p:cNvSpPr>
            <p:nvPr/>
          </p:nvSpPr>
          <p:spPr bwMode="auto">
            <a:xfrm>
              <a:off x="102347" y="0"/>
              <a:ext cx="631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FFFFFF"/>
                  </a:solidFill>
                  <a:latin typeface="Montserrat SemiBold" panose="00000700000000000000" charset="0"/>
                  <a:ea typeface="微软雅黑" panose="020B0503020204020204" pitchFamily="34" charset="-122"/>
                  <a:cs typeface="Montserrat SemiBold" panose="00000700000000000000" charset="0"/>
                </a:rPr>
                <a:t>3</a:t>
              </a:r>
            </a:p>
          </p:txBody>
        </p:sp>
      </p:grpSp>
      <p:grpSp>
        <p:nvGrpSpPr>
          <p:cNvPr id="45065" name="组合 58"/>
          <p:cNvGrpSpPr/>
          <p:nvPr/>
        </p:nvGrpSpPr>
        <p:grpSpPr bwMode="auto">
          <a:xfrm>
            <a:off x="6816725" y="4242118"/>
            <a:ext cx="733425" cy="523875"/>
            <a:chOff x="0" y="0"/>
            <a:chExt cx="733424" cy="523220"/>
          </a:xfrm>
        </p:grpSpPr>
        <p:grpSp>
          <p:nvGrpSpPr>
            <p:cNvPr id="45081" name="组合 59"/>
            <p:cNvGrpSpPr/>
            <p:nvPr/>
          </p:nvGrpSpPr>
          <p:grpSpPr bwMode="auto">
            <a:xfrm>
              <a:off x="0" y="30570"/>
              <a:ext cx="619124" cy="471567"/>
              <a:chOff x="0" y="0"/>
              <a:chExt cx="877513" cy="643017"/>
            </a:xfrm>
          </p:grpSpPr>
          <p:sp>
            <p:nvSpPr>
              <p:cNvPr id="45083" name="平行四边形 61"/>
              <p:cNvSpPr>
                <a:spLocks noChangeArrowheads="1"/>
              </p:cNvSpPr>
              <p:nvPr/>
            </p:nvSpPr>
            <p:spPr bwMode="auto">
              <a:xfrm>
                <a:off x="31500" y="72900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  <p:sp>
            <p:nvSpPr>
              <p:cNvPr id="45084" name="平行四边形 62"/>
              <p:cNvSpPr>
                <a:spLocks noChangeArrowheads="1"/>
              </p:cNvSpPr>
              <p:nvPr/>
            </p:nvSpPr>
            <p:spPr bwMode="auto">
              <a:xfrm>
                <a:off x="0" y="-607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</p:grpSp>
        <p:sp>
          <p:nvSpPr>
            <p:cNvPr id="45082" name="文本框 60"/>
            <p:cNvSpPr txBox="1">
              <a:spLocks noChangeArrowheads="1"/>
            </p:cNvSpPr>
            <p:nvPr/>
          </p:nvSpPr>
          <p:spPr bwMode="auto">
            <a:xfrm>
              <a:off x="102347" y="0"/>
              <a:ext cx="631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FFFFFF"/>
                  </a:solidFill>
                  <a:latin typeface="Montserrat SemiBold" panose="00000700000000000000" charset="0"/>
                  <a:ea typeface="微软雅黑" panose="020B0503020204020204" pitchFamily="34" charset="-122"/>
                  <a:cs typeface="Montserrat SemiBold" panose="00000700000000000000" charset="0"/>
                </a:rPr>
                <a:t>4</a:t>
              </a:r>
            </a:p>
          </p:txBody>
        </p:sp>
      </p:grpSp>
      <p:grpSp>
        <p:nvGrpSpPr>
          <p:cNvPr id="45066" name="组合 63"/>
          <p:cNvGrpSpPr/>
          <p:nvPr/>
        </p:nvGrpSpPr>
        <p:grpSpPr bwMode="auto">
          <a:xfrm>
            <a:off x="6748145" y="4992688"/>
            <a:ext cx="733425" cy="523875"/>
            <a:chOff x="0" y="0"/>
            <a:chExt cx="733424" cy="523220"/>
          </a:xfrm>
        </p:grpSpPr>
        <p:grpSp>
          <p:nvGrpSpPr>
            <p:cNvPr id="45077" name="组合 64"/>
            <p:cNvGrpSpPr/>
            <p:nvPr/>
          </p:nvGrpSpPr>
          <p:grpSpPr bwMode="auto">
            <a:xfrm>
              <a:off x="0" y="30570"/>
              <a:ext cx="619124" cy="471567"/>
              <a:chOff x="0" y="0"/>
              <a:chExt cx="877513" cy="643017"/>
            </a:xfrm>
          </p:grpSpPr>
          <p:sp>
            <p:nvSpPr>
              <p:cNvPr id="45079" name="平行四边形 66"/>
              <p:cNvSpPr>
                <a:spLocks noChangeArrowheads="1"/>
              </p:cNvSpPr>
              <p:nvPr/>
            </p:nvSpPr>
            <p:spPr bwMode="auto">
              <a:xfrm>
                <a:off x="31500" y="72900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  <p:sp>
            <p:nvSpPr>
              <p:cNvPr id="45080" name="平行四边形 67"/>
              <p:cNvSpPr>
                <a:spLocks noChangeArrowheads="1"/>
              </p:cNvSpPr>
              <p:nvPr/>
            </p:nvSpPr>
            <p:spPr bwMode="auto">
              <a:xfrm>
                <a:off x="0" y="-607"/>
                <a:ext cx="846013" cy="570760"/>
              </a:xfrm>
              <a:prstGeom prst="parallelogram">
                <a:avLst>
                  <a:gd name="adj" fmla="val 41517"/>
                </a:avLst>
              </a:prstGeom>
              <a:solidFill>
                <a:srgbClr val="007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Montserrat SemiBold" panose="00000700000000000000" charset="0"/>
                  <a:cs typeface="Montserrat SemiBold" panose="00000700000000000000" charset="0"/>
                </a:endParaRPr>
              </a:p>
            </p:txBody>
          </p:sp>
        </p:grpSp>
        <p:sp>
          <p:nvSpPr>
            <p:cNvPr id="45078" name="文本框 65"/>
            <p:cNvSpPr txBox="1">
              <a:spLocks noChangeArrowheads="1"/>
            </p:cNvSpPr>
            <p:nvPr/>
          </p:nvSpPr>
          <p:spPr bwMode="auto">
            <a:xfrm>
              <a:off x="102347" y="0"/>
              <a:ext cx="63107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2800" b="1">
                  <a:solidFill>
                    <a:srgbClr val="FFFFFF"/>
                  </a:solidFill>
                  <a:latin typeface="Montserrat SemiBold" panose="00000700000000000000" charset="0"/>
                  <a:ea typeface="微软雅黑" panose="020B0503020204020204" pitchFamily="34" charset="-122"/>
                  <a:cs typeface="Montserrat SemiBold" panose="00000700000000000000" charset="0"/>
                </a:rPr>
                <a:t>5</a:t>
              </a:r>
            </a:p>
          </p:txBody>
        </p:sp>
      </p:grpSp>
      <p:sp>
        <p:nvSpPr>
          <p:cNvPr id="45067" name="平行四边形 68"/>
          <p:cNvSpPr>
            <a:spLocks noChangeArrowheads="1"/>
          </p:cNvSpPr>
          <p:nvPr/>
        </p:nvSpPr>
        <p:spPr bwMode="auto">
          <a:xfrm>
            <a:off x="7597775" y="2033905"/>
            <a:ext cx="3896360" cy="420107"/>
          </a:xfrm>
          <a:prstGeom prst="parallelogram">
            <a:avLst>
              <a:gd name="adj" fmla="val 37969"/>
            </a:avLst>
          </a:prstGeom>
          <a:noFill/>
          <a:ln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1600" b="1">
              <a:solidFill>
                <a:srgbClr val="000000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68" name="Rectangle 6"/>
          <p:cNvSpPr>
            <a:spLocks noChangeArrowheads="1"/>
          </p:cNvSpPr>
          <p:nvPr/>
        </p:nvSpPr>
        <p:spPr bwMode="auto">
          <a:xfrm>
            <a:off x="7686675" y="2070100"/>
            <a:ext cx="482092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Улучшение интерфейса</a:t>
            </a:r>
            <a:endParaRPr lang="zh-CN" sz="1600" b="1" dirty="0">
              <a:solidFill>
                <a:srgbClr val="0070C0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45069" name="平行四边形 70"/>
          <p:cNvSpPr>
            <a:spLocks noChangeArrowheads="1"/>
          </p:cNvSpPr>
          <p:nvPr/>
        </p:nvSpPr>
        <p:spPr bwMode="auto">
          <a:xfrm>
            <a:off x="7597775" y="2711450"/>
            <a:ext cx="3896360" cy="422789"/>
          </a:xfrm>
          <a:prstGeom prst="parallelogram">
            <a:avLst>
              <a:gd name="adj" fmla="val 37963"/>
            </a:avLst>
          </a:prstGeom>
          <a:noFill/>
          <a:ln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1600" b="1">
              <a:solidFill>
                <a:srgbClr val="000000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70" name="Rectangle 6"/>
          <p:cNvSpPr>
            <a:spLocks noChangeArrowheads="1"/>
          </p:cNvSpPr>
          <p:nvPr/>
        </p:nvSpPr>
        <p:spPr bwMode="auto">
          <a:xfrm>
            <a:off x="7734300" y="2766343"/>
            <a:ext cx="359600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Оптимизация производительности</a:t>
            </a:r>
            <a:endParaRPr lang="zh-CN" sz="1600" b="1" dirty="0">
              <a:solidFill>
                <a:srgbClr val="0070C0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45071" name="平行四边形 72"/>
          <p:cNvSpPr>
            <a:spLocks noChangeArrowheads="1"/>
          </p:cNvSpPr>
          <p:nvPr/>
        </p:nvSpPr>
        <p:spPr bwMode="auto">
          <a:xfrm>
            <a:off x="7597775" y="3552825"/>
            <a:ext cx="3801745" cy="419561"/>
          </a:xfrm>
          <a:prstGeom prst="parallelogram">
            <a:avLst>
              <a:gd name="adj" fmla="val 37977"/>
            </a:avLst>
          </a:prstGeom>
          <a:noFill/>
          <a:ln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1600" b="1">
              <a:solidFill>
                <a:srgbClr val="000000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72" name="Rectangle 6"/>
          <p:cNvSpPr>
            <a:spLocks noChangeArrowheads="1"/>
          </p:cNvSpPr>
          <p:nvPr/>
        </p:nvSpPr>
        <p:spPr bwMode="auto">
          <a:xfrm>
            <a:off x="7795895" y="3570605"/>
            <a:ext cx="359600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Добавление поиска и фильтров </a:t>
            </a:r>
            <a:endParaRPr lang="zh-CN" sz="1600" b="1" dirty="0">
              <a:solidFill>
                <a:srgbClr val="0070C0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45073" name="平行四边形 74"/>
          <p:cNvSpPr>
            <a:spLocks noChangeArrowheads="1"/>
          </p:cNvSpPr>
          <p:nvPr/>
        </p:nvSpPr>
        <p:spPr bwMode="auto">
          <a:xfrm>
            <a:off x="7597775" y="4276725"/>
            <a:ext cx="3665855" cy="422799"/>
          </a:xfrm>
          <a:prstGeom prst="parallelogram">
            <a:avLst>
              <a:gd name="adj" fmla="val 37962"/>
            </a:avLst>
          </a:prstGeom>
          <a:noFill/>
          <a:ln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1600" b="1">
              <a:solidFill>
                <a:srgbClr val="000000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74" name="Rectangle 6"/>
          <p:cNvSpPr>
            <a:spLocks noChangeArrowheads="1"/>
          </p:cNvSpPr>
          <p:nvPr/>
        </p:nvSpPr>
        <p:spPr bwMode="auto">
          <a:xfrm>
            <a:off x="7795895" y="4340860"/>
            <a:ext cx="359600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Адаптивная верстка сайта</a:t>
            </a:r>
            <a:endParaRPr lang="zh-CN" sz="1600" b="1" dirty="0">
              <a:solidFill>
                <a:srgbClr val="0070C0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45075" name="平行四边形 76"/>
          <p:cNvSpPr>
            <a:spLocks noChangeArrowheads="1"/>
          </p:cNvSpPr>
          <p:nvPr/>
        </p:nvSpPr>
        <p:spPr bwMode="auto">
          <a:xfrm>
            <a:off x="7597775" y="5035550"/>
            <a:ext cx="3665855" cy="420675"/>
          </a:xfrm>
          <a:prstGeom prst="parallelogram">
            <a:avLst>
              <a:gd name="adj" fmla="val 37958"/>
            </a:avLst>
          </a:prstGeom>
          <a:noFill/>
          <a:ln w="9525">
            <a:solidFill>
              <a:srgbClr val="40404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endParaRPr lang="zh-CN" altLang="en-US" sz="1600" b="1">
              <a:solidFill>
                <a:srgbClr val="000000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45076" name="Rectangle 6"/>
          <p:cNvSpPr>
            <a:spLocks noChangeArrowheads="1"/>
          </p:cNvSpPr>
          <p:nvPr/>
        </p:nvSpPr>
        <p:spPr bwMode="auto">
          <a:xfrm>
            <a:off x="7795895" y="5096510"/>
            <a:ext cx="359600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Улучшить систему безопасности</a:t>
            </a:r>
            <a:endParaRPr lang="zh-CN" sz="1600" b="1" dirty="0">
              <a:solidFill>
                <a:srgbClr val="0070C0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41" name="文本框 6">
            <a:extLst>
              <a:ext uri="{FF2B5EF4-FFF2-40B4-BE49-F238E27FC236}">
                <a16:creationId xmlns:a16="http://schemas.microsoft.com/office/drawing/2014/main" id="{05E1C354-FDF6-4CC9-851C-CB903887B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03" y="2955925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Планы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平行四边形 4"/>
          <p:cNvSpPr>
            <a:spLocks noChangeArrowheads="1"/>
          </p:cNvSpPr>
          <p:nvPr/>
        </p:nvSpPr>
        <p:spPr bwMode="auto">
          <a:xfrm>
            <a:off x="676275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29699" name="平行四边形 5"/>
          <p:cNvSpPr>
            <a:spLocks noChangeArrowheads="1"/>
          </p:cNvSpPr>
          <p:nvPr/>
        </p:nvSpPr>
        <p:spPr bwMode="auto">
          <a:xfrm flipV="1">
            <a:off x="676275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sp>
        <p:nvSpPr>
          <p:cNvPr id="38" name="文本框 6">
            <a:extLst>
              <a:ext uri="{FF2B5EF4-FFF2-40B4-BE49-F238E27FC236}">
                <a16:creationId xmlns:a16="http://schemas.microsoft.com/office/drawing/2014/main" id="{DF7FBB5F-D5AA-4694-A438-40FC991F6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5720" y="3136612"/>
            <a:ext cx="387159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ru-RU" altLang="zh-CN" sz="3200" b="1" dirty="0">
                <a:solidFill>
                  <a:srgbClr val="FFFFFF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Демонстрация</a:t>
            </a:r>
            <a:endParaRPr lang="zh-CN" sz="3200" b="1" dirty="0">
              <a:solidFill>
                <a:srgbClr val="FFFFFF"/>
              </a:solidFill>
              <a:latin typeface="Montserrat SemiBold" panose="00000700000000000000" charset="0"/>
              <a:ea typeface="微软雅黑" panose="020B0503020204020204" pitchFamily="34" charset="-122"/>
              <a:cs typeface="Montserrat SemiBold" panose="00000700000000000000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C95F64-50F2-4CE4-91CD-D06C8FD92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800" y="2011412"/>
            <a:ext cx="482092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QR-</a:t>
            </a: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код на сайт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1F46DB-1DDB-4CA8-AB97-DE3A84C60C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2156" y="2301133"/>
            <a:ext cx="2255733" cy="2255733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AFCD09DD-F7C8-4D1A-B23C-803399946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396" y="2008747"/>
            <a:ext cx="482092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QR-</a:t>
            </a:r>
            <a:r>
              <a:rPr lang="ru-RU" altLang="zh-CN" sz="1600" b="1" dirty="0">
                <a:solidFill>
                  <a:srgbClr val="0070C0"/>
                </a:solidFill>
                <a:latin typeface="Montserrat SemiBold" panose="00000700000000000000" charset="0"/>
                <a:ea typeface="微软雅黑" panose="020B0503020204020204" pitchFamily="34" charset="-122"/>
                <a:cs typeface="Montserrat SemiBold" panose="00000700000000000000" charset="0"/>
              </a:rPr>
              <a:t>код на видео с работой сайта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3ECC7C-6595-404A-8389-F4E68E6721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992" y="2301133"/>
            <a:ext cx="2255733" cy="225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683"/>
      </p:ext>
    </p:extLst>
  </p:cSld>
  <p:clrMapOvr>
    <a:masterClrMapping/>
  </p:clrMapOvr>
</p:sld>
</file>

<file path=ppt/theme/theme1.xml><?xml version="1.0" encoding="utf-8"?>
<a:theme xmlns:a="http://schemas.openxmlformats.org/drawingml/2006/main" name="亮亮图文旗舰店https://liangliangtuwen.tmall.com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1 https://12sc.taobao.com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清风素材2 https://12sc.taobao.com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清风素材4 https://12sc.taobao.com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清风素材5 https://12sc.taobao.com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清风素材6 https://12sc.taobao.com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清风素材7 https://12sc.taobao.com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清风素材8 https://12sc.taobao.com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3_Office 主题">
  <a:themeElements>
    <a:clrScheme name="1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4_Office 主题">
  <a:themeElements>
    <a:clrScheme name="1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163</Words>
  <Application>Microsoft Office PowerPoint</Application>
  <PresentationFormat>Широкоэкранный</PresentationFormat>
  <Paragraphs>64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13</vt:i4>
      </vt:variant>
    </vt:vector>
  </HeadingPairs>
  <TitlesOfParts>
    <vt:vector size="32" baseType="lpstr">
      <vt:lpstr>微软雅黑</vt:lpstr>
      <vt:lpstr>宋体</vt:lpstr>
      <vt:lpstr>Arial</vt:lpstr>
      <vt:lpstr>Calibri</vt:lpstr>
      <vt:lpstr>Calibri Light</vt:lpstr>
      <vt:lpstr>Montserrat SemiBold</vt:lpstr>
      <vt:lpstr>字魂70号-灵悦黑体</vt:lpstr>
      <vt:lpstr>亮亮图文旗舰店https://liangliangtuwen.tmall.com</vt:lpstr>
      <vt:lpstr>清风素材1 https://12sc.taobao.com</vt:lpstr>
      <vt:lpstr>清风素材2 https://12sc.taobao.com</vt:lpstr>
      <vt:lpstr>清风素材4 https://12sc.taobao.com</vt:lpstr>
      <vt:lpstr>清风素材5 https://12sc.taobao.com</vt:lpstr>
      <vt:lpstr>清风素材6 https://12sc.taobao.com</vt:lpstr>
      <vt:lpstr>清风素材7 https://12sc.taobao.com</vt:lpstr>
      <vt:lpstr>清风素材8 https://12sc.taobao.com</vt:lpstr>
      <vt:lpstr>11_Office 主题</vt:lpstr>
      <vt:lpstr>12_Office 主题</vt:lpstr>
      <vt:lpstr>13_Office 主题</vt:lpstr>
      <vt:lpstr>14_Office 主题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12sc.taobao.com</dc:subject>
  <dc:creator>清风素材;12sc.taobao.com</dc:creator>
  <cp:keywords>12sc.taobao.com</cp:keywords>
  <dc:description>12sc.taobao.com</dc:description>
  <cp:lastModifiedBy>User</cp:lastModifiedBy>
  <cp:revision>154</cp:revision>
  <dcterms:created xsi:type="dcterms:W3CDTF">2015-08-12T02:06:00Z</dcterms:created>
  <dcterms:modified xsi:type="dcterms:W3CDTF">2025-11-16T14:33:13Z</dcterms:modified>
  <cp:category>12sc.taobao.com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BE8FDB26FE1446F18C943B1B3C5E8B4D</vt:lpwstr>
  </property>
  <property fmtid="{D5CDD505-2E9C-101B-9397-08002B2CF9AE}" pid="3" name="KSOProductBuildVer">
    <vt:lpwstr>2052-11.1.0.10228</vt:lpwstr>
  </property>
</Properties>
</file>